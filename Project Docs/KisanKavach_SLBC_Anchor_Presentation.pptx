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103120"/>
            <a:ext cx="103628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KISANKAVACH</a:t>
            </a:r>
          </a:p>
          <a:p>
            <a:pPr algn="ctr">
              <a:defRPr sz="1700" b="1">
                <a:solidFill>
                  <a:srgbClr val="EA580C"/>
                </a:solidFill>
              </a:defRPr>
            </a:pPr>
            <a:r>
              <a:t>Next-Generation Digital Public Infrastructure for Agricultural Credit &amp; Fraud Defense</a:t>
            </a:r>
          </a:p>
          <a:p>
            <a:pPr algn="ctr">
              <a:defRPr sz="1500">
                <a:solidFill>
                  <a:srgbClr val="94A3B8"/>
                </a:solidFill>
              </a:defRPr>
            </a:pPr>
            <a:r>
              <a:t>State Level Bankers' Committee (SLBC) Karnataka — Anchor Presentation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114800"/>
            <a:ext cx="8534095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06240"/>
            <a:ext cx="816833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100">
                <a:solidFill>
                  <a:srgbClr val="EA580C"/>
                </a:solidFill>
              </a:rPr>
              <a:t>Anchor Convener:           </a:t>
            </a:r>
            <a:r>
              <a:rPr sz="1100">
                <a:solidFill>
                  <a:srgbClr val="FFFFFF"/>
                </a:solidFill>
              </a:rPr>
              <a:t>Canara Bank (SLBC Convener) &amp; Karnataka Banking Consortium (SBI, KVGB, Karnataka Bank)</a:t>
            </a:r>
          </a:p>
          <a:p>
            <a:r>
              <a:rPr b="1" sz="1100">
                <a:solidFill>
                  <a:srgbClr val="EA580C"/>
                </a:solidFill>
              </a:rPr>
              <a:t>Government Stakeholders:   </a:t>
            </a:r>
            <a:r>
              <a:rPr sz="1100">
                <a:solidFill>
                  <a:srgbClr val="FFFFFF"/>
                </a:solidFill>
              </a:rPr>
              <a:t>Dept. of Agriculture, Bhoomi (Revenue Dept), FRUITS, CeG, RBI &amp; NABARD</a:t>
            </a:r>
          </a:p>
          <a:p>
            <a:r>
              <a:rPr b="1" sz="1100">
                <a:solidFill>
                  <a:srgbClr val="EA580C"/>
                </a:solidFill>
              </a:rPr>
              <a:t>Project Lead &amp; Architect:  </a:t>
            </a:r>
            <a:r>
              <a:rPr sz="1100">
                <a:solidFill>
                  <a:srgbClr val="FFFFFF"/>
                </a:solidFill>
              </a:rPr>
              <a:t>Sarath Babu Rayaprolu (Founder &amp; Lead Architect)</a:t>
            </a:r>
          </a:p>
          <a:p>
            <a:r>
              <a:rPr b="1" sz="1100">
                <a:solidFill>
                  <a:srgbClr val="EA580C"/>
                </a:solidFill>
              </a:rPr>
              <a:t>Demonstration Portal:      </a:t>
            </a:r>
            <a:r>
              <a:rPr sz="1100">
                <a:solidFill>
                  <a:srgbClr val="FFFFFF"/>
                </a:solidFill>
              </a:rPr>
              <a:t>https://kisan.digikavach.net  |  Native Android APK Ready</a:t>
            </a:r>
          </a:p>
          <a:p>
            <a:r>
              <a:rPr b="1" sz="1100">
                <a:solidFill>
                  <a:srgbClr val="EA580C"/>
                </a:solidFill>
              </a:rPr>
              <a:t>Meeting Objective:         </a:t>
            </a:r>
            <a:r>
              <a:rPr sz="1100">
                <a:solidFill>
                  <a:srgbClr val="FFFFFF"/>
                </a:solidFill>
              </a:rPr>
              <a:t>Approval for Statewide Phase 2 Rollout &amp; Core Banking System (CBS) API Integration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4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EA580C"/>
                </a:solidFill>
              </a:defRPr>
            </a:pPr>
            <a:r>
              <a:t>SLBC KARNATAKA ANCHOR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The Agrarian Credit Bottleneck in Karnataka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2860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EA580C"/>
                </a:solidFill>
              </a:defRPr>
            </a:pPr>
            <a:r>
              <a:t>Lead: Sarath Babu Rayaprolu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Confidential - State Level Bankers' Committee (SLBC) Karnataka &amp; Partner Banks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44E29"/>
                </a:solidFill>
              </a:defRPr>
            </a:pPr>
            <a:r>
              <a:t>kisan.digikavach.net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80160"/>
            <a:ext cx="3328416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463040"/>
            <a:ext cx="296265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B91C1C"/>
                </a:solidFill>
              </a:defRPr>
            </a:pPr>
            <a:r>
              <a:t>FARMER PAIN POINTS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• 30 to 45 Days Delay: Farmers wait over a month for standard KCC credit sanction.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• High Document Expense: Lost wages &amp; travel costs exceed Rs. 3,500 visiting revenue and bank offices.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• Moneylender Trap: Urgent sowing needs force farmers into informal loans at 24% - 36% interest.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• Information Blindspot: Zero visibility on loan status; farmers make 4-6 branch visits in person.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• Cyber Vulnerability: Preyed upon by predatory loan apps, fake PM-KISAN links, and OTP siphoning.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5696" y="1280160"/>
            <a:ext cx="3328416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1463040"/>
            <a:ext cx="296265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EA580C"/>
                </a:solidFill>
              </a:defRPr>
            </a:pPr>
            <a:r>
              <a:t>BANKING CHALLENGES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• High File Costs: Rs. 2,200+ operating expense per physical loan folder processed.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• 38% Rejection Rate: Defective land titles, mismatched survey numbers, and illegible RTCs.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• Ghost Borrowers: Inability to cross-verify physical identity against Bhoomi land deeds instantly.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• Duplicate Encumbrances: Farmers mortgaging same land parcel across cooperative and RRB branches.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• Audit Pressure: Extreme difficulty meeting RBI Priority Sector Lending (PSL) quotas efficiently.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280160"/>
            <a:ext cx="3328416" cy="49377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1463040"/>
            <a:ext cx="296265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44E29"/>
                </a:solidFill>
              </a:defRPr>
            </a:pPr>
            <a:r>
              <a:t>KISANKAVACH TRANSFORMATION</a:t>
            </a:r>
          </a:p>
          <a:p>
            <a:pPr>
              <a:spcAft>
                <a:spcPts val="800"/>
              </a:spcAft>
              <a:defRPr sz="1000" b="1">
                <a:solidFill>
                  <a:srgbClr val="044E29"/>
                </a:solidFill>
              </a:defRPr>
            </a:pPr>
            <a:r>
              <a:t>✔ Under 7-Day Turnaround: Slashes cycle time by 80% through instant digital appraisal.</a:t>
            </a:r>
          </a:p>
          <a:p>
            <a:pPr>
              <a:spcAft>
                <a:spcPts val="800"/>
              </a:spcAft>
              <a:defRPr sz="1000" b="1">
                <a:solidFill>
                  <a:srgbClr val="044E29"/>
                </a:solidFill>
              </a:defRPr>
            </a:pPr>
            <a:r>
              <a:t>✔ Rs. 1,500 Saved per File: Slashes bank origination overhead from Rs. 2,200 to Rs. 700.</a:t>
            </a:r>
          </a:p>
          <a:p>
            <a:pPr>
              <a:spcAft>
                <a:spcPts val="800"/>
              </a:spcAft>
              <a:defRPr sz="1000" b="1">
                <a:solidFill>
                  <a:srgbClr val="044E29"/>
                </a:solidFill>
              </a:defRPr>
            </a:pPr>
            <a:r>
              <a:t>✔ 100% Elimination of Ghost Loans: Real-time Bhoomi RTC &amp; FRUITS crop data matching.</a:t>
            </a:r>
          </a:p>
          <a:p>
            <a:pPr>
              <a:spcAft>
                <a:spcPts val="800"/>
              </a:spcAft>
              <a:defRPr sz="1000" b="1">
                <a:solidFill>
                  <a:srgbClr val="044E29"/>
                </a:solidFill>
              </a:defRPr>
            </a:pPr>
            <a:r>
              <a:t>✔ Guaranteed Audit Trail: Consent-governed timestamped logging compliant with DPDP Act.</a:t>
            </a:r>
          </a:p>
          <a:p>
            <a:pPr>
              <a:spcAft>
                <a:spcPts val="800"/>
              </a:spcAft>
              <a:defRPr sz="1000" b="1">
                <a:solidFill>
                  <a:srgbClr val="044E29"/>
                </a:solidFill>
              </a:defRPr>
            </a:pPr>
            <a:r>
              <a:t>✔ Active Cyber Shield: AI scans farmer SMS &amp; WhatsApp to stop phishing before cash drains.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4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EA580C"/>
                </a:solidFill>
              </a:defRPr>
            </a:pPr>
            <a:r>
              <a:t>SLBC KARNATAKA ANCHOR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System Architecture: Zero Statutory Displacement DPI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2860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EA580C"/>
                </a:solidFill>
              </a:defRPr>
            </a:pPr>
            <a:r>
              <a:t>Lead: Sarath Babu Rayaprolu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Confidential - State Level Bankers' Committee (SLBC) Karnataka &amp; Partner Banks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44E29"/>
                </a:solidFill>
              </a:defRPr>
            </a:pPr>
            <a:r>
              <a:t>kisan.digikavach.net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80160"/>
            <a:ext cx="10728655" cy="59436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2588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50">
                <a:solidFill>
                  <a:srgbClr val="9A3412"/>
                </a:solidFill>
              </a:defRPr>
            </a:pPr>
            <a:r>
              <a:t>ARCHITECTURAL PRINCIPLE: KisanKavach DOES NOT replace Bhoomi or FRUITS. It acts as an intelligent orchestration layer connecting state registries directly into Bank Core Banking Systems (CBS).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057400"/>
            <a:ext cx="2542032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44E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057400"/>
            <a:ext cx="2542032" cy="731520"/>
          </a:xfrm>
          <a:prstGeom prst="rect">
            <a:avLst/>
          </a:prstGeom>
          <a:solidFill>
            <a:srgbClr val="044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130552"/>
            <a:ext cx="254203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BHOOMI REGISTRY</a:t>
            </a:r>
          </a:p>
          <a:p>
            <a:pPr algn="ctr">
              <a:defRPr sz="850">
                <a:solidFill>
                  <a:srgbClr val="E2E8F0"/>
                </a:solidFill>
              </a:defRPr>
            </a:pPr>
            <a:r>
              <a:t>Land Title &amp; Encumbrance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0360"/>
            <a:ext cx="226771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Real-time RTC / Pahani API pull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Survey No. &amp; Hissa validation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Exact land extent &amp; soil classification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Sub-registrar encumbrance check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Automated bank charge creation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56432" y="2057400"/>
            <a:ext cx="2542032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56432" y="2057400"/>
            <a:ext cx="2542032" cy="7315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6432" y="2130552"/>
            <a:ext cx="254203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FRUITS PLATFORM</a:t>
            </a:r>
          </a:p>
          <a:p>
            <a:pPr algn="ctr">
              <a:defRPr sz="850">
                <a:solidFill>
                  <a:srgbClr val="E2E8F0"/>
                </a:solidFill>
              </a:defRPr>
            </a:pPr>
            <a:r>
              <a:t>Farmer Identity &amp; Crops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2" y="2880360"/>
            <a:ext cx="226771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Direct Farmer ID (FID) verification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Seasonal crop declaration provenance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Aadhaar-linked DBT eligibility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Scale of Finance cross-check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Zero duplicate benefit leakage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1344" y="2057400"/>
            <a:ext cx="2542032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1344" y="2057400"/>
            <a:ext cx="2542032" cy="7315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1344" y="2130552"/>
            <a:ext cx="254203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BANK LOS &amp; CBS</a:t>
            </a:r>
          </a:p>
          <a:p>
            <a:pPr algn="ctr">
              <a:defRPr sz="850">
                <a:solidFill>
                  <a:srgbClr val="E2E8F0"/>
                </a:solidFill>
              </a:defRPr>
            </a:pPr>
            <a:r>
              <a:t>Maker-Checker Portal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2880360"/>
            <a:ext cx="226771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Auto-populated loan applications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Instant CIBIL / Experian bureau pull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Standardized underwriting queue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Mandatory structured rejection codes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Core Banking ISO-8583 / REST push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06256" y="2057400"/>
            <a:ext cx="2542032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06256" y="2057400"/>
            <a:ext cx="2542032" cy="7315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06256" y="2130552"/>
            <a:ext cx="254203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CYBERKAVACH</a:t>
            </a:r>
          </a:p>
          <a:p>
            <a:pPr algn="ctr">
              <a:defRPr sz="850">
                <a:solidFill>
                  <a:srgbClr val="E2E8F0"/>
                </a:solidFill>
              </a:defRPr>
            </a:pPr>
            <a:r>
              <a:t>AI Fraud &amp; Phishing Defense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43416" y="2880360"/>
            <a:ext cx="226771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Rural phishing &amp; SMS heuristic scan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Predatory loan APK detector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Kannada &amp; English scam parsing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Real-time fraud advisory alerts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Disbursement account protection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4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EA580C"/>
                </a:solidFill>
              </a:defRPr>
            </a:pPr>
            <a:r>
              <a:t>SLBC KARNATAKA ANCHOR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10-District Karnataka Pilot: Quantified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2860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EA580C"/>
                </a:solidFill>
              </a:defRPr>
            </a:pPr>
            <a:r>
              <a:t>Lead: Sarath Babu Rayaprolu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Confidential - State Level Bankers' Committee (SLBC) Karnataka &amp; Partner Banks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44E29"/>
                </a:solidFill>
              </a:defRPr>
            </a:pPr>
            <a:r>
              <a:t>kisan.digikavach.net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80160"/>
            <a:ext cx="2542032" cy="11887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44E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25880"/>
            <a:ext cx="254203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475569"/>
                </a:solidFill>
              </a:defRPr>
            </a:pPr>
            <a:r>
              <a:t>FARMERS REGISTERED</a:t>
            </a:r>
          </a:p>
          <a:p>
            <a:pPr algn="ctr">
              <a:defRPr sz="1900" b="1">
                <a:solidFill>
                  <a:srgbClr val="044E29"/>
                </a:solidFill>
              </a:defRPr>
            </a:pPr>
            <a:r>
              <a:t>1,50,000+</a:t>
            </a:r>
          </a:p>
          <a:p>
            <a:pPr algn="ctr">
              <a:defRPr sz="800">
                <a:solidFill>
                  <a:srgbClr val="475569"/>
                </a:solidFill>
              </a:defRPr>
            </a:pPr>
            <a:r>
              <a:t>Across 10 Pilot Districts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6432" y="1280160"/>
            <a:ext cx="2542032" cy="11887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6432" y="1325880"/>
            <a:ext cx="254203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475569"/>
                </a:solidFill>
              </a:defRPr>
            </a:pPr>
            <a:r>
              <a:t>KCC LOANS SANCTIONED</a:t>
            </a:r>
          </a:p>
          <a:p>
            <a:pPr algn="ctr">
              <a:defRPr sz="1900" b="1">
                <a:solidFill>
                  <a:srgbClr val="0D9488"/>
                </a:solidFill>
              </a:defRPr>
            </a:pPr>
            <a:r>
              <a:t>1,05,000</a:t>
            </a:r>
          </a:p>
          <a:p>
            <a:pPr algn="ctr">
              <a:defRPr sz="800">
                <a:solidFill>
                  <a:srgbClr val="475569"/>
                </a:solidFill>
              </a:defRPr>
            </a:pPr>
            <a:r>
              <a:t>70.0% Sanction Conversion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280160"/>
            <a:ext cx="2542032" cy="11887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1325880"/>
            <a:ext cx="254203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475569"/>
                </a:solidFill>
              </a:defRPr>
            </a:pPr>
            <a:r>
              <a:t>CREDIT DISBURSED</a:t>
            </a:r>
          </a:p>
          <a:p>
            <a:pPr algn="ctr">
              <a:defRPr sz="1900" b="1">
                <a:solidFill>
                  <a:srgbClr val="EA580C"/>
                </a:solidFill>
              </a:defRPr>
            </a:pPr>
            <a:r>
              <a:t>Rs. 1,890 Cr</a:t>
            </a:r>
          </a:p>
          <a:p>
            <a:pPr algn="ctr">
              <a:defRPr sz="800">
                <a:solidFill>
                  <a:srgbClr val="475569"/>
                </a:solidFill>
              </a:defRPr>
            </a:pPr>
            <a:r>
              <a:t>Avg Rs. 1,80,000 per card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1280160"/>
            <a:ext cx="2542032" cy="11887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06256" y="1325880"/>
            <a:ext cx="254203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475569"/>
                </a:solidFill>
              </a:defRPr>
            </a:pPr>
            <a:r>
              <a:t>TURNAROUND CYCLE</a:t>
            </a:r>
          </a:p>
          <a:p>
            <a:pPr algn="ctr">
              <a:defRPr sz="1900" b="1">
                <a:solidFill>
                  <a:srgbClr val="0284C7"/>
                </a:solidFill>
              </a:defRPr>
            </a:pPr>
            <a:r>
              <a:t>6.2 Days</a:t>
            </a:r>
          </a:p>
          <a:p>
            <a:pPr algn="ctr">
              <a:defRPr sz="800">
                <a:solidFill>
                  <a:srgbClr val="475569"/>
                </a:solidFill>
              </a:defRPr>
            </a:pPr>
            <a:r>
              <a:t>Down from 35 days (82% faster)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697480"/>
            <a:ext cx="521208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88036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44E29"/>
                </a:solidFill>
              </a:defRPr>
            </a:pPr>
            <a:r>
              <a:t>10 PILOT DISTRICTS REPRESENTED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1. Mysuru (Southern Agri Zone) — 16,400 Sanctions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2. Mandya (Sugarcane &amp; Irrigation Belt) — 14,800 Sanctions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3. Hassan (Plantation &amp; Cash Crops) — 11,200 Sanctions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4. Belagavi (Commercial &amp; Sugar Hub) — 15,300 Sanctions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5. Ballari (Mining &amp; Dryland Agriculture) — 9,800 Sanctions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6. Kalaburagi (Tur &amp; Pulses Bowl) — 10,100 Sanctions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7. Tumakuru (Horticulture &amp; Oilseeds) — 9,500 Sanctions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8. Shivamogga (Malnad Paddy &amp; Arecanut) — 6,800 Sanctions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9. Davanagere (Central Cotton &amp; Maize) — 6,200 Sanctions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10. Bagalkote (Horticulture &amp; Irrigation) — 4,900 Sanctions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8095" y="2697480"/>
            <a:ext cx="521208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0975" y="288036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EA580C"/>
                </a:solidFill>
              </a:defRPr>
            </a:pPr>
            <a:r>
              <a:t>BANKING CONSORTIUM EFFICIENCY GAINS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✔ Zero Ghost Borrowers: 0 counterfeit or duplicate land claims escaped detection.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✔ Documentation Accuracy: Incomplete filings reduced from 38% to under 2.1%.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✔ Field Survey Efficiency: Bank field verification officers completed 4.2x more appraisals daily using mobile geo-tagged photos.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✔ Direct Bank Savings: Participating branches saved an average of Rs. 15.75 Lakhs each in underwriting overhead during the pilot.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✔ Customer Satisfaction: 94.2% farmer satisfaction rating reported across taluk grievance centers.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4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EA580C"/>
                </a:solidFill>
              </a:defRPr>
            </a:pPr>
            <a:r>
              <a:t>SLBC KARNATAKA ANCHOR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Underwriting Revolution: Bank Maker-Checker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2860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EA580C"/>
                </a:solidFill>
              </a:defRPr>
            </a:pPr>
            <a:r>
              <a:t>Lead: Sarath Babu Rayaprolu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Confidential - State Level Bankers' Committee (SLBC) Karnataka &amp; Partner Banks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44E29"/>
                </a:solidFill>
              </a:defRPr>
            </a:pPr>
            <a:r>
              <a:t>kisan.digikavach.net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80160"/>
            <a:ext cx="3328416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44E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280160"/>
            <a:ext cx="3328416" cy="777240"/>
          </a:xfrm>
          <a:prstGeom prst="rect">
            <a:avLst/>
          </a:prstGeom>
          <a:solidFill>
            <a:srgbClr val="044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353312"/>
            <a:ext cx="332841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050">
                <a:solidFill>
                  <a:srgbClr val="FFFFFF"/>
                </a:solidFill>
              </a:defRPr>
            </a:pPr>
            <a:r>
              <a:t>STAGE 1: MAKER APPRAISAL</a:t>
            </a:r>
          </a:p>
          <a:p>
            <a:pPr algn="ctr">
              <a:defRPr sz="850">
                <a:solidFill>
                  <a:srgbClr val="F1F5F9"/>
                </a:solidFill>
              </a:defRPr>
            </a:pPr>
            <a:r>
              <a:t>Field / Loan Officer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305409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Auto-Prefilled Data: Zero manual typing; applicant data pulled from Aadhaar, Bhoomi, and FRUITS.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Scale of Finance Calculator: Pre-computes eligible credit based on notified crop acreage rates.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Integrated Bureau Score: 1-click CIBIL / Experian pull embedded in loan file.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Digital Field Verification: Geo-tagged, timestamped crop photos captured via mobile app.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Recommendation Note: Automated draft appraisal note generated in 60 seconds.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1280160"/>
            <a:ext cx="3328416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25696" y="1280160"/>
            <a:ext cx="3328416" cy="7772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5696" y="1353312"/>
            <a:ext cx="332841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050">
                <a:solidFill>
                  <a:srgbClr val="FFFFFF"/>
                </a:solidFill>
              </a:defRPr>
            </a:pPr>
            <a:r>
              <a:t>STAGE 2: CHECKER SANCTION</a:t>
            </a:r>
          </a:p>
          <a:p>
            <a:pPr algn="ctr">
              <a:defRPr sz="850">
                <a:solidFill>
                  <a:srgbClr val="F1F5F9"/>
                </a:solidFill>
              </a:defRPr>
            </a:pPr>
            <a:r>
              <a:t>Branch Manager / Credit Head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2148840"/>
            <a:ext cx="305409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Real-Time SLA Timers: Countdown display preventing regulatory breach under 7-day norms.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Deviation Highlighting: Automatic alerts on multi-bank exposures or encumbrance anomalies.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1-Click Sanction Letter: Generates bilingual KCC sanction memorandum instantly.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Structured Rejections: Rejections require statutory categorized rationale for audit compliance.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Transparent Ledger: No hidden rejections; farmer receives instant plain-language SMS status.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2" y="1280160"/>
            <a:ext cx="3328416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280160"/>
            <a:ext cx="3328416" cy="7772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19872" y="1353312"/>
            <a:ext cx="332841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050">
                <a:solidFill>
                  <a:srgbClr val="FFFFFF"/>
                </a:solidFill>
              </a:defRPr>
            </a:pPr>
            <a:r>
              <a:t>STAGE 3: CBS DISBURSEMENT</a:t>
            </a:r>
          </a:p>
          <a:p>
            <a:pPr algn="ctr">
              <a:defRPr sz="850">
                <a:solidFill>
                  <a:srgbClr val="F1F5F9"/>
                </a:solidFill>
              </a:defRPr>
            </a:pPr>
            <a:r>
              <a:t>Core Banking Automation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148840"/>
            <a:ext cx="305409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API Connectors: Direct interface with Finacle, BaNCS, and Flexcube via ISO-8583 / REST.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Automated Charge Creation: Digital lien registration communicated to Bhoomi / Revenue portal.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Direct Credit to Account: Subsidy subvention and interest subvention tracking activated.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e-Parihara Alignment: Automatic enrollment in disaster relief and crop compensation registers.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Automated SLBC Reporting: Eliminates manual branch reporting for district meetings.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4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EA580C"/>
                </a:solidFill>
              </a:defRPr>
            </a:pPr>
            <a:r>
              <a:t>SLBC KARNATAKA ANCHOR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Risk Mitigation: Zero Ghost Borrowers &amp; NPA Prevention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2860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EA580C"/>
                </a:solidFill>
              </a:defRPr>
            </a:pPr>
            <a:r>
              <a:t>Lead: Sarath Babu Rayaprolu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Confidential - State Level Bankers' Committee (SLBC) Karnataka &amp; Partner Banks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44E29"/>
                </a:solidFill>
              </a:defRPr>
            </a:pPr>
            <a:r>
              <a:t>kisan.digikavach.net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80160"/>
            <a:ext cx="52120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44E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417320"/>
            <a:ext cx="48463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044E29"/>
                </a:solidFill>
              </a:defRPr>
            </a:pPr>
            <a:r>
              <a:t>GHOST BORROWER ELIMINATION</a:t>
            </a:r>
          </a:p>
          <a:p>
            <a:pPr>
              <a:spcAft>
                <a:spcPts val="400"/>
              </a:spcAft>
              <a:defRPr sz="850" b="1">
                <a:solidFill>
                  <a:srgbClr val="475569"/>
                </a:solidFill>
              </a:defRPr>
            </a:pPr>
            <a:r>
              <a:t>Triple Identity Match Protocol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Farmer Aadhaar biometric/OTP cross-verified with UIDAI database.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Name, photo, and relative details verified against Bhoomi RTC title deed.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Farmer ID (FID) verified against FRUITS historical subsidy registry.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Result: 100% elimination of impersonation and non-existent borrower claims.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1280160"/>
            <a:ext cx="52120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0975" y="1417320"/>
            <a:ext cx="48463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0D9488"/>
                </a:solidFill>
              </a:defRPr>
            </a:pPr>
            <a:r>
              <a:t>DUPLICATE ENCUMBRANCE PREVENTION</a:t>
            </a:r>
          </a:p>
          <a:p>
            <a:pPr>
              <a:spcAft>
                <a:spcPts val="400"/>
              </a:spcAft>
              <a:defRPr sz="850" b="1">
                <a:solidFill>
                  <a:srgbClr val="475569"/>
                </a:solidFill>
              </a:defRPr>
            </a:pPr>
            <a:r>
              <a:t>Cross-Bank Digital Lien Registry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Checks existing mortgages across commercial banks, RRBs, and DCCBs in real-time.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Blocks simultaneous multi-bank loan applications using the same survey parcel.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Sub-registrar office (Kaveri) encumbrance certificates linked to application.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Result: Prevents systemic multi-bank loan stacking on a single asset.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2120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77640"/>
            <a:ext cx="48463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0284C7"/>
                </a:solidFill>
              </a:defRPr>
            </a:pPr>
            <a:r>
              <a:t>LAND EXTENT &amp; CROP AUTHENTICATION</a:t>
            </a:r>
          </a:p>
          <a:p>
            <a:pPr>
              <a:spcAft>
                <a:spcPts val="400"/>
              </a:spcAft>
              <a:defRPr sz="850" b="1">
                <a:solidFill>
                  <a:srgbClr val="475569"/>
                </a:solidFill>
              </a:defRPr>
            </a:pPr>
            <a:r>
              <a:t>Satellite &amp; Registry Correlation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Validates exact land boundaries from Bhoomi against revenue cadastral maps.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Matches claimed crop against FRUITS seasonal crop survey declarations.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Prevents high-value crop misdeclarations (e.g. claiming horticulture on fallow land).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Result: Completely realistic Scale of Finance loan appraisals.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840480"/>
            <a:ext cx="52120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0975" y="3977640"/>
            <a:ext cx="48463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EA580C"/>
                </a:solidFill>
              </a:defRPr>
            </a:pPr>
            <a:r>
              <a:t>CYBERKAVACH PHISHING DEFENSE</a:t>
            </a:r>
          </a:p>
          <a:p>
            <a:pPr>
              <a:spcAft>
                <a:spcPts val="400"/>
              </a:spcAft>
              <a:defRPr sz="850" b="1">
                <a:solidFill>
                  <a:srgbClr val="475569"/>
                </a:solidFill>
              </a:defRPr>
            </a:pPr>
            <a:r>
              <a:t>Agrarian Cyber Fraud Radar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DigiKavach-aligned heuristic scanner detects rural APK malware and scam links.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Alerts farmers in Kannada and English before fraudsters can siphon loan proceeds.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Monitors fake 'PM-KISAN bonus' phishing domains targeting rural account holders.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Result: Preserves farmer credit liquidity and reduces default due to fraud.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4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EA580C"/>
                </a:solidFill>
              </a:defRPr>
            </a:pPr>
            <a:r>
              <a:t>SLBC KARNATAKA ANCHOR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Unit Economics: Bank Operational Cost Savings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2860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EA580C"/>
                </a:solidFill>
              </a:defRPr>
            </a:pPr>
            <a:r>
              <a:t>Lead: Sarath Babu Rayaprolu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Confidential - State Level Bankers' Committee (SLBC) Karnataka &amp; Partner Banks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44E29"/>
                </a:solidFill>
              </a:defRPr>
            </a:pPr>
            <a:r>
              <a:t>kisan.digikavach.net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280160"/>
          <a:ext cx="65836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371600"/>
                <a:gridCol w="1463040"/>
              </a:tblGrid>
              <a:tr h="4876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Cost Component</a:t>
                      </a:r>
                    </a:p>
                  </a:txBody>
                  <a:tcPr>
                    <a:solidFill>
                      <a:srgbClr val="044E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Physical Paper</a:t>
                      </a:r>
                    </a:p>
                  </a:txBody>
                  <a:tcPr>
                    <a:solidFill>
                      <a:srgbClr val="044E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KisanKavach</a:t>
                      </a:r>
                    </a:p>
                  </a:txBody>
                  <a:tcPr>
                    <a:solidFill>
                      <a:srgbClr val="044E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Savings / Impact</a:t>
                      </a:r>
                    </a:p>
                  </a:txBody>
                  <a:tcPr>
                    <a:solidFill>
                      <a:srgbClr val="044E2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Document Collection &amp; Notary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Rs. 450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Rs.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100% Digital via Bhoomi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Land &amp; Crop Field Verification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Rs. 650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Rs. 250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62% Faster / Geo-Photo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Data Entry &amp; Maker Appraisal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Rs. 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Rs. 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Auto-Prefilled from APIs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Branch Overhead &amp; Paper Store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Rs. 700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Rs. 400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Cloud / Audit Compliance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EA580C"/>
                          </a:solidFill>
                        </a:defRPr>
                      </a:pPr>
                      <a:r>
                        <a:t>TOTAL COST PER APPLICATION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EA580C"/>
                          </a:solidFill>
                        </a:defRPr>
                      </a:pPr>
                      <a:r>
                        <a:t>Rs. 2,200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EA580C"/>
                          </a:solidFill>
                        </a:defRPr>
                      </a:pPr>
                      <a:r>
                        <a:t>Rs. 700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EA580C"/>
                          </a:solidFill>
                        </a:defRPr>
                      </a:pPr>
                      <a:r>
                        <a:t>Rs. 1,500 Saved (68%)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589520" y="1280160"/>
            <a:ext cx="3870655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44E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463040"/>
            <a:ext cx="3504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44E29"/>
                </a:solidFill>
              </a:defRPr>
            </a:pPr>
            <a:r>
              <a:t>INSTITUTIONAL SAVINGS IMPACT</a:t>
            </a:r>
          </a:p>
          <a:p>
            <a:pPr>
              <a:spcAft>
                <a:spcPts val="600"/>
              </a:spcAft>
            </a:pPr>
            <a:r>
              <a:rPr b="1" sz="950">
                <a:solidFill>
                  <a:srgbClr val="EA580C"/>
                </a:solidFill>
              </a:rPr>
              <a:t>Rs. 30 Crore Annual Savings: </a:t>
            </a:r>
            <a:r>
              <a:rPr sz="900">
                <a:solidFill>
                  <a:srgbClr val="1E293B"/>
                </a:solidFill>
              </a:rPr>
              <a:t>A commercial bank originating 2,00,000 KCC files saves Rs. 30 Cr in direct branch overhead every year.</a:t>
            </a:r>
          </a:p>
          <a:p>
            <a:pPr>
              <a:spcAft>
                <a:spcPts val="600"/>
              </a:spcAft>
            </a:pPr>
            <a:r>
              <a:rPr b="1" sz="950">
                <a:solidFill>
                  <a:srgbClr val="EA580C"/>
                </a:solidFill>
              </a:rPr>
              <a:t>Zero Upfront Capex: </a:t>
            </a:r>
            <a:r>
              <a:rPr sz="900">
                <a:solidFill>
                  <a:srgbClr val="1E293B"/>
                </a:solidFill>
              </a:rPr>
              <a:t>KisanKavach operates on a pure success-based model (0.35% origination fee on disbursed credit). No capital outlay required.</a:t>
            </a:r>
          </a:p>
          <a:p>
            <a:pPr>
              <a:spcAft>
                <a:spcPts val="600"/>
              </a:spcAft>
            </a:pPr>
            <a:r>
              <a:rPr b="1" sz="950">
                <a:solidFill>
                  <a:srgbClr val="EA580C"/>
                </a:solidFill>
              </a:rPr>
              <a:t>Turnaround Acceleration: </a:t>
            </a:r>
            <a:r>
              <a:rPr sz="900">
                <a:solidFill>
                  <a:srgbClr val="1E293B"/>
                </a:solidFill>
              </a:rPr>
              <a:t>Branch managers process 3.5x more agricultural loan applications without expanding branch headcount.</a:t>
            </a:r>
          </a:p>
          <a:p>
            <a:pPr>
              <a:spcAft>
                <a:spcPts val="600"/>
              </a:spcAft>
            </a:pPr>
            <a:r>
              <a:rPr b="1" sz="950">
                <a:solidFill>
                  <a:srgbClr val="EA580C"/>
                </a:solidFill>
              </a:rPr>
              <a:t>NPA Provisioning Relief: </a:t>
            </a:r>
            <a:r>
              <a:rPr sz="900">
                <a:solidFill>
                  <a:srgbClr val="1E293B"/>
                </a:solidFill>
              </a:rPr>
              <a:t>1.2% reduction in non-performing loans frees up hundreds of crores in regulatory risk capital reserves.</a:t>
            </a:r>
          </a:p>
          <a:p>
            <a:pPr>
              <a:spcAft>
                <a:spcPts val="600"/>
              </a:spcAft>
            </a:pPr>
            <a:r>
              <a:rPr b="1" sz="950">
                <a:solidFill>
                  <a:srgbClr val="EA580C"/>
                </a:solidFill>
              </a:rPr>
              <a:t>RBI PSL Compliance: </a:t>
            </a:r>
            <a:r>
              <a:rPr sz="900">
                <a:solidFill>
                  <a:srgbClr val="1E293B"/>
                </a:solidFill>
              </a:rPr>
              <a:t>Ensures 100% adherence to RBI sub-targets for Small &amp; Marginal Farmers (SMF) without audit penalties.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89120"/>
            <a:ext cx="6583680" cy="18288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44E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80560"/>
            <a:ext cx="6217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4E29"/>
                </a:solidFill>
              </a:defRPr>
            </a:pPr>
            <a:r>
              <a:t>PROPOSED SLBC COMMERCIAL &amp; LICENSING MODEL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Loan Origination Fee: 0.35% of disbursed credit (paid upon successful disbursement).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Branch SaaS License: Rs. 35,00,0 / branch / year (covers portal, SLA engine &amp; command desk).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State Enterprise DPI Support: Tiered annual SLA contract with Karnataka Agriculture Dept.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Free for Smallholder Farmers: Zero platform fees charged to farmers for basic KCC applications.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4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EA580C"/>
                </a:solidFill>
              </a:defRPr>
            </a:pPr>
            <a:r>
              <a:t>SLBC KARNATAKA ANCHOR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State Command Center &amp; Real-Time SLBC Oversight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2860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EA580C"/>
                </a:solidFill>
              </a:defRPr>
            </a:pPr>
            <a:r>
              <a:t>Lead: Sarath Babu Rayaprolu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Confidential - State Level Bankers' Committee (SLBC) Karnataka &amp; Partner Banks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44E29"/>
                </a:solidFill>
              </a:defRPr>
            </a:pPr>
            <a:r>
              <a:t>kisan.digikavach.net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80160"/>
            <a:ext cx="3328416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44E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280160"/>
            <a:ext cx="3328416" cy="777240"/>
          </a:xfrm>
          <a:prstGeom prst="rect">
            <a:avLst/>
          </a:prstGeom>
          <a:solidFill>
            <a:srgbClr val="044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353312"/>
            <a:ext cx="332841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050">
                <a:solidFill>
                  <a:srgbClr val="FFFFFF"/>
                </a:solidFill>
              </a:defRPr>
            </a:pPr>
            <a:r>
              <a:t>EXECUTIVE VISIBILITY</a:t>
            </a:r>
          </a:p>
          <a:p>
            <a:pPr algn="ctr">
              <a:defRPr sz="850">
                <a:solidFill>
                  <a:srgbClr val="F1F5F9"/>
                </a:solidFill>
              </a:defRPr>
            </a:pPr>
            <a:r>
              <a:t>District &amp; Taluk Drilldowns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305409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950">
                <a:solidFill>
                  <a:srgbClr val="1E293B"/>
                </a:solidFill>
              </a:defRPr>
            </a:pPr>
            <a:r>
              <a:t>• Real-time heatmaps tracking agricultural credit velocity across all 31 districts &amp; 240 taluks.</a:t>
            </a:r>
          </a:p>
          <a:p>
            <a:pPr>
              <a:spcAft>
                <a:spcPts val="1000"/>
              </a:spcAft>
              <a:defRPr sz="950">
                <a:solidFill>
                  <a:srgbClr val="1E293B"/>
                </a:solidFill>
              </a:defRPr>
            </a:pPr>
            <a:r>
              <a:t>• Compare disbursement pace against targets set by SLBC and State Credit Plan.</a:t>
            </a:r>
          </a:p>
          <a:p>
            <a:pPr>
              <a:spcAft>
                <a:spcPts val="1000"/>
              </a:spcAft>
              <a:defRPr sz="950">
                <a:solidFill>
                  <a:srgbClr val="1E293B"/>
                </a:solidFill>
              </a:defRPr>
            </a:pPr>
            <a:r>
              <a:t>• Instant detection of regional credit deserts and underserved agrarian clusters.</a:t>
            </a:r>
          </a:p>
          <a:p>
            <a:pPr>
              <a:spcAft>
                <a:spcPts val="1000"/>
              </a:spcAft>
              <a:defRPr sz="950">
                <a:solidFill>
                  <a:srgbClr val="1E293B"/>
                </a:solidFill>
              </a:defRPr>
            </a:pPr>
            <a:r>
              <a:t>• 1-click export of SLBC review reports in standard PDF and Excel formats.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1280160"/>
            <a:ext cx="3328416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25696" y="1280160"/>
            <a:ext cx="3328416" cy="7772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5696" y="1353312"/>
            <a:ext cx="332841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050">
                <a:solidFill>
                  <a:srgbClr val="FFFFFF"/>
                </a:solidFill>
              </a:defRPr>
            </a:pPr>
            <a:r>
              <a:t>BANK PERFORMANCE RADAR</a:t>
            </a:r>
          </a:p>
          <a:p>
            <a:pPr algn="ctr">
              <a:defRPr sz="850">
                <a:solidFill>
                  <a:srgbClr val="F1F5F9"/>
                </a:solidFill>
              </a:defRPr>
            </a:pPr>
            <a:r>
              <a:t>Bank &amp; Branch Benchmarking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2148840"/>
            <a:ext cx="305409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950">
                <a:solidFill>
                  <a:srgbClr val="1E293B"/>
                </a:solidFill>
              </a:defRPr>
            </a:pPr>
            <a:r>
              <a:t>• Live scorecards comparing SBI, Canara Bank, KVGB, Karnataka Bank, and DCCBs.</a:t>
            </a:r>
          </a:p>
          <a:p>
            <a:pPr>
              <a:spcAft>
                <a:spcPts val="1000"/>
              </a:spcAft>
              <a:defRPr sz="950">
                <a:solidFill>
                  <a:srgbClr val="1E293B"/>
                </a:solidFill>
              </a:defRPr>
            </a:pPr>
            <a:r>
              <a:t>• Turnaround time (TAT) tracking identifying branches failing 7-day norms.</a:t>
            </a:r>
          </a:p>
          <a:p>
            <a:pPr>
              <a:spcAft>
                <a:spcPts val="1000"/>
              </a:spcAft>
              <a:defRPr sz="950">
                <a:solidFill>
                  <a:srgbClr val="1E293B"/>
                </a:solidFill>
              </a:defRPr>
            </a:pPr>
            <a:r>
              <a:t>• Sanction conversion rate analysis highlighting abnormal rejection spikes.</a:t>
            </a:r>
          </a:p>
          <a:p>
            <a:pPr>
              <a:spcAft>
                <a:spcPts val="1000"/>
              </a:spcAft>
              <a:defRPr sz="950">
                <a:solidFill>
                  <a:srgbClr val="1E293B"/>
                </a:solidFill>
              </a:defRPr>
            </a:pPr>
            <a:r>
              <a:t>• Branch field verification efficiency tracking.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2" y="1280160"/>
            <a:ext cx="3328416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280160"/>
            <a:ext cx="3328416" cy="7772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19872" y="1353312"/>
            <a:ext cx="332841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050">
                <a:solidFill>
                  <a:srgbClr val="FFFFFF"/>
                </a:solidFill>
              </a:defRPr>
            </a:pPr>
            <a:r>
              <a:t>SLA ENFORCEMENT &amp; RECOURSE</a:t>
            </a:r>
          </a:p>
          <a:p>
            <a:pPr algn="ctr">
              <a:defRPr sz="850">
                <a:solidFill>
                  <a:srgbClr val="F1F5F9"/>
                </a:solidFill>
              </a:defRPr>
            </a:pPr>
            <a:r>
              <a:t>District Collector Escalation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148840"/>
            <a:ext cx="305409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950">
                <a:solidFill>
                  <a:srgbClr val="1E293B"/>
                </a:solidFill>
              </a:defRPr>
            </a:pPr>
            <a:r>
              <a:t>• Automated countdown timer on every loan file visible to applicant and bank.</a:t>
            </a:r>
          </a:p>
          <a:p>
            <a:pPr>
              <a:spcAft>
                <a:spcPts val="1000"/>
              </a:spcAft>
              <a:defRPr sz="950">
                <a:solidFill>
                  <a:srgbClr val="1E293B"/>
                </a:solidFill>
              </a:defRPr>
            </a:pPr>
            <a:r>
              <a:t>• SLA breach escalation engine automatically flags overdue applications to District Collectors.</a:t>
            </a:r>
          </a:p>
          <a:p>
            <a:pPr>
              <a:spcAft>
                <a:spcPts val="1000"/>
              </a:spcAft>
              <a:defRPr sz="950">
                <a:solidFill>
                  <a:srgbClr val="1E293B"/>
                </a:solidFill>
              </a:defRPr>
            </a:pPr>
            <a:r>
              <a:t>• Centralized citizen grievance tracking resolving farmer appeals under 10 days.</a:t>
            </a:r>
          </a:p>
          <a:p>
            <a:pPr>
              <a:spcAft>
                <a:spcPts val="1000"/>
              </a:spcAft>
              <a:defRPr sz="950">
                <a:solidFill>
                  <a:srgbClr val="1E293B"/>
                </a:solidFill>
              </a:defRPr>
            </a:pPr>
            <a:r>
              <a:t>• Transparent audit trail preventing arbitrary documentary rejections.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4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EA580C"/>
                </a:solidFill>
              </a:defRPr>
            </a:pPr>
            <a:r>
              <a:t>SLBC KARNATAKA ANCHOR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Data Governance, Security &amp; DPDP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2860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EA580C"/>
                </a:solidFill>
              </a:defRPr>
            </a:pPr>
            <a:r>
              <a:t>Lead: Sarath Babu Rayaprolu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Confidential - State Level Bankers' Committee (SLBC) Karnataka &amp; Partner Banks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44E29"/>
                </a:solidFill>
              </a:defRPr>
            </a:pPr>
            <a:r>
              <a:t>kisan.digikavach.net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80160"/>
            <a:ext cx="52120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44E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417320"/>
            <a:ext cx="48463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044E29"/>
                </a:solidFill>
              </a:defRPr>
            </a:pPr>
            <a:r>
              <a:t>DPDP ACT 2023 COMPLIANCE</a:t>
            </a:r>
          </a:p>
          <a:p>
            <a:pPr>
              <a:spcAft>
                <a:spcPts val="400"/>
              </a:spcAft>
              <a:defRPr sz="850" b="1">
                <a:solidFill>
                  <a:srgbClr val="475569"/>
                </a:solidFill>
              </a:defRPr>
            </a:pPr>
            <a:r>
              <a:t>Consent-Governed Data Architecture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Explicit, notice-based farmer consent before pulling Bhoomi or FRUITS records.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Granular consent logs recorded with immutable digital timestamps.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Farmer right-to-revoke and data portability compliance.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Zero data monetization or unauthorized secondary sharing.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1280160"/>
            <a:ext cx="52120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0975" y="1417320"/>
            <a:ext cx="48463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0D9488"/>
                </a:solidFill>
              </a:defRPr>
            </a:pPr>
            <a:r>
              <a:t>BANK-GRADE CYBER SECURITY</a:t>
            </a:r>
          </a:p>
          <a:p>
            <a:pPr>
              <a:spcAft>
                <a:spcPts val="400"/>
              </a:spcAft>
              <a:defRPr sz="850" b="1">
                <a:solidFill>
                  <a:srgbClr val="475569"/>
                </a:solidFill>
              </a:defRPr>
            </a:pPr>
            <a:r>
              <a:t>MeitY Empaneled Cloud Infrastructure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256-bit TLS encryption in transit and AES-256 encryption at rest.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CERT-In empaneled security audit readiness with continuous vulnerability scans.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Strict Role-Based Access Control (RBAC) across Maker, Checker, and Admin personas.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Zero trust network architecture with multi-factor authentication (MFA).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2120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77640"/>
            <a:ext cx="48463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0284C7"/>
                </a:solidFill>
              </a:defRPr>
            </a:pPr>
            <a:r>
              <a:t>RBI MASTER DIRECTIONS ALIGNMENT</a:t>
            </a:r>
          </a:p>
          <a:p>
            <a:pPr>
              <a:spcAft>
                <a:spcPts val="400"/>
              </a:spcAft>
              <a:defRPr sz="850" b="1">
                <a:solidFill>
                  <a:srgbClr val="475569"/>
                </a:solidFill>
              </a:defRPr>
            </a:pPr>
            <a:r>
              <a:t>Priority Sector Lending Guidelines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Full compliance with RBI guidelines on Kisan Credit Card (KCC) scheme limits.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Automated classification of Small &amp; Marginal Farmers (SMF) for PSL reporting.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Interest Subvention Scheme (ISS) reporting and audit trail generation.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Scale of Finance norms verified against District Technical Committee mandates.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840480"/>
            <a:ext cx="52120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0975" y="3977640"/>
            <a:ext cx="48463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EA580C"/>
                </a:solidFill>
              </a:defRPr>
            </a:pPr>
            <a:r>
              <a:t>SOVEREIGN DATA RESIDENCY</a:t>
            </a:r>
          </a:p>
          <a:p>
            <a:pPr>
              <a:spcAft>
                <a:spcPts val="400"/>
              </a:spcAft>
              <a:defRPr sz="850" b="1">
                <a:solidFill>
                  <a:srgbClr val="475569"/>
                </a:solidFill>
              </a:defRPr>
            </a:pPr>
            <a:r>
              <a:t>Zero Offshore Data Transmission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100% of databases and application servers hosted within sovereign Indian borders.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Integrated with State Data Centre (SDC) guidelines for Karnataka e-Governance.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Statutory records remain in Bhoomi and FRUITS; KisanKavach acts as pass-through pipeline.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Complete business continuity and disaster recovery (BCP/DR) protocol.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4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EA580C"/>
                </a:solidFill>
              </a:defRPr>
            </a:pPr>
            <a:r>
              <a:t>SLBC KARNATAKA ANCHOR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Statewide Rollout Roadmap &amp; CBS Integration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2860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EA580C"/>
                </a:solidFill>
              </a:defRPr>
            </a:pPr>
            <a:r>
              <a:t>Lead: Sarath Babu Rayaprolu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Confidential - State Level Bankers' Committee (SLBC) Karnataka &amp; Partner Banks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44E29"/>
                </a:solidFill>
              </a:defRPr>
            </a:pPr>
            <a:r>
              <a:t>kisan.digikavach.net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80160"/>
            <a:ext cx="2542032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44E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280160"/>
            <a:ext cx="2542032" cy="914400"/>
          </a:xfrm>
          <a:prstGeom prst="rect">
            <a:avLst/>
          </a:prstGeom>
          <a:solidFill>
            <a:srgbClr val="044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353312"/>
            <a:ext cx="2542032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PHASE 1 (COMPLETED)</a:t>
            </a:r>
          </a:p>
          <a:p>
            <a:pPr algn="ctr">
              <a:defRPr sz="850" b="1">
                <a:solidFill>
                  <a:srgbClr val="FED7AA"/>
                </a:solidFill>
              </a:defRPr>
            </a:pPr>
            <a:r>
              <a:t>10 Pilot Districts</a:t>
            </a:r>
          </a:p>
          <a:p>
            <a:pPr algn="ctr">
              <a:defRPr sz="800">
                <a:solidFill>
                  <a:srgbClr val="F1F5F9"/>
                </a:solidFill>
              </a:defRPr>
            </a:pPr>
            <a:r>
              <a:t>Months 1 – 6 (2026)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286000"/>
            <a:ext cx="23225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Next.js 15 PWA &amp; Android APK deployed.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Bhoomi &amp; FRUITS sandbox connectors verified.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1,50,000 farmers onboarded.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1,05,000 KCC loans sanctioned.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Rs. 1,890 Cr credit throughput.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Zero ghost borrower breaches.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6432" y="1280160"/>
            <a:ext cx="2542032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56432" y="1280160"/>
            <a:ext cx="2542032" cy="9144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1353312"/>
            <a:ext cx="2542032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PHASE 2 (CURRENT FOCUS)</a:t>
            </a:r>
          </a:p>
          <a:p>
            <a:pPr algn="ctr">
              <a:defRPr sz="850" b="1">
                <a:solidFill>
                  <a:srgbClr val="FED7AA"/>
                </a:solidFill>
              </a:defRPr>
            </a:pPr>
            <a:r>
              <a:t>All 31 KA Districts</a:t>
            </a:r>
          </a:p>
          <a:p>
            <a:pPr algn="ctr">
              <a:defRPr sz="800">
                <a:solidFill>
                  <a:srgbClr val="F1F5F9"/>
                </a:solidFill>
              </a:defRPr>
            </a:pPr>
            <a:r>
              <a:t>Months 7 – 18 (2027)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286000"/>
            <a:ext cx="23225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Full statewide expansion to 240+ taluks.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Direct Core Banking (CBS) ISO-8583 push.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Automated CIBIL bureau pull.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5,00,000 active farmer accounts.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Rs. 6,750 Cr credit throughput.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Command Center in all 31 Collectorates.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1280160"/>
            <a:ext cx="2542032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1280160"/>
            <a:ext cx="2542032" cy="914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81344" y="1353312"/>
            <a:ext cx="2542032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PHASE 3 (VALUE CHAIN)</a:t>
            </a:r>
          </a:p>
          <a:p>
            <a:pPr algn="ctr">
              <a:defRPr sz="850" b="1">
                <a:solidFill>
                  <a:srgbClr val="FED7AA"/>
                </a:solidFill>
              </a:defRPr>
            </a:pPr>
            <a:r>
              <a:t>Insurance &amp; Input Credit</a:t>
            </a:r>
          </a:p>
          <a:p>
            <a:pPr algn="ctr">
              <a:defRPr sz="800">
                <a:solidFill>
                  <a:srgbClr val="F1F5F9"/>
                </a:solidFill>
              </a:defRPr>
            </a:pPr>
            <a:r>
              <a:t>Months 19 – 36 (2028-29)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072" y="2286000"/>
            <a:ext cx="23225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PMFBY satellite claim automation.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KSNDMC hyper-local weather alerts.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FPO group loan origination module.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Agri-input credit checkout APIs.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AI Kannada conversational voice assistant.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12,00,000 active farmers.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256" y="1280160"/>
            <a:ext cx="2542032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06256" y="1280160"/>
            <a:ext cx="2542032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06256" y="1353312"/>
            <a:ext cx="2542032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PHASE 4 (NATIONAL SCALE)</a:t>
            </a:r>
          </a:p>
          <a:p>
            <a:pPr algn="ctr">
              <a:defRPr sz="850" b="1">
                <a:solidFill>
                  <a:srgbClr val="FED7AA"/>
                </a:solidFill>
              </a:defRPr>
            </a:pPr>
            <a:r>
              <a:t>AgriStack Federation</a:t>
            </a:r>
          </a:p>
          <a:p>
            <a:pPr algn="ctr">
              <a:defRPr sz="800">
                <a:solidFill>
                  <a:srgbClr val="F1F5F9"/>
                </a:solidFill>
              </a:defRPr>
            </a:pPr>
            <a:r>
              <a:t>Months 37 – 60 (2029-31)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15984" y="2286000"/>
            <a:ext cx="23225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Full integration with GoI AgriStack / UFSP.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Multi-state land registry adaptors (AP, TS, MH).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e-NWR electronic warehouse pledge credit.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50,00,000 active farmers.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Rs. 72,000 Cr annual credit throughput.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Sovereign DPI export framework.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4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EA580C"/>
                </a:solidFill>
              </a:defRPr>
            </a:pPr>
            <a:r>
              <a:t>SLBC KARNATAKA ANCHOR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Proposed Resolutions for SLBC Plenary Approval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2860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EA580C"/>
                </a:solidFill>
              </a:defRPr>
            </a:pPr>
            <a:r>
              <a:t>Lead: Sarath Babu Rayaprolu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Confidential - State Level Bankers' Committee (SLBC) Karnataka &amp; Partner Banks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44E29"/>
                </a:solidFill>
              </a:defRPr>
            </a:pPr>
            <a:r>
              <a:t>kisan.digikavach.net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80160"/>
            <a:ext cx="52120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44E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417320"/>
            <a:ext cx="48463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4E29"/>
                </a:solidFill>
              </a:defRPr>
            </a:pPr>
            <a:r>
              <a:t>RESOLUTION 1: DIGITAL GATEWAY EMPANELMENT</a:t>
            </a:r>
          </a:p>
          <a:p>
            <a:pPr>
              <a:spcAft>
                <a:spcPts val="400"/>
              </a:spcAft>
              <a:defRPr sz="850" b="1">
                <a:solidFill>
                  <a:srgbClr val="475569"/>
                </a:solidFill>
              </a:defRPr>
            </a:pPr>
            <a:r>
              <a:t>Official State Credit Gateway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Formal adoption of KisanKavach as the official Digital Public Infrastructure (DPI) orchestration gateway for Kisan Credit Card (KCC) originations across Karnataka.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Recognition of digital Bhoomi RTC &amp; FRUITS validation as valid legal prefill.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Authorization to establish standardized Maker-Checker portals in partner branches.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1280160"/>
            <a:ext cx="52120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0975" y="1417320"/>
            <a:ext cx="48463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284C7"/>
                </a:solidFill>
              </a:defRPr>
            </a:pPr>
            <a:r>
              <a:t>RESOLUTION 2: CORE BANKING API INTEGRATION</a:t>
            </a:r>
          </a:p>
          <a:p>
            <a:pPr>
              <a:spcAft>
                <a:spcPts val="400"/>
              </a:spcAft>
              <a:defRPr sz="850" b="1">
                <a:solidFill>
                  <a:srgbClr val="475569"/>
                </a:solidFill>
              </a:defRPr>
            </a:pPr>
            <a:r>
              <a:t>CBS Sandbox Authorization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Authorize IT teams of anchor banks (Canara, SBI, KVGB, Karnataka Bank) to provide secure API connectors for core banking disbursement and charge lien push.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Deploy automated CIBIL score query integration within the Maker appraisal flow.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Enable digital e-Sign / Aadhaar OTP disbursement document signing.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2120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77640"/>
            <a:ext cx="48463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D9488"/>
                </a:solidFill>
              </a:defRPr>
            </a:pPr>
            <a:r>
              <a:t>RESOLUTION 3: JOINT IMPLEMENTATION TASKFORCE</a:t>
            </a:r>
          </a:p>
          <a:p>
            <a:pPr>
              <a:spcAft>
                <a:spcPts val="400"/>
              </a:spcAft>
              <a:defRPr sz="850" b="1">
                <a:solidFill>
                  <a:srgbClr val="475569"/>
                </a:solidFill>
              </a:defRPr>
            </a:pPr>
            <a:r>
              <a:t>5-Member Steering Committee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Constitute an SLBC-KisanKavach joint working committee comprising: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• SLBC Convener Representative (Canara Bank)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• Lead District Managers (LDMs) of Pilot Districts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• State Dept of Agriculture &amp; Bhoomi Nodal Officers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• KisanKavach Lead Architect (Sarath Babu Rayaprolu)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840480"/>
            <a:ext cx="52120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0975" y="3977640"/>
            <a:ext cx="48463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EA580C"/>
                </a:solidFill>
              </a:defRPr>
            </a:pPr>
            <a:r>
              <a:t>RESOLUTION 4: STATEWIDE PHASE 2 ROLLOUT MANDATE</a:t>
            </a:r>
          </a:p>
          <a:p>
            <a:pPr>
              <a:spcAft>
                <a:spcPts val="400"/>
              </a:spcAft>
              <a:defRPr sz="850" b="1">
                <a:solidFill>
                  <a:srgbClr val="475569"/>
                </a:solidFill>
              </a:defRPr>
            </a:pPr>
            <a:r>
              <a:t>31 Districts Rollout Schedule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Approve schedule to expand from 10 pilot districts to all 31 Karnataka districts.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Target onboarding 5,00,000 smallholder farmers in FY 2026-27.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Facilitate Rs. 6,750 Crore in prioritized agricultural credit through partner banks.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Mandate quarterly progress reviews at future SLBC plenary meetings.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73152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19456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Empowering Karnataka's Agrarian Economy</a:t>
            </a:r>
          </a:p>
          <a:p>
            <a:pPr algn="ctr">
              <a:defRPr sz="1600" b="1">
                <a:solidFill>
                  <a:srgbClr val="EA580C"/>
                </a:solidFill>
              </a:defRPr>
            </a:pPr>
            <a:r>
              <a:t>Rapid, Transparent &amp; Fraud-Free Digital Agricultural Lending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3840480"/>
            <a:ext cx="7619695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3977639"/>
            <a:ext cx="7253935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100">
                <a:solidFill>
                  <a:srgbClr val="EA580C"/>
                </a:solidFill>
              </a:rPr>
              <a:t>Author &amp; Presenter:       </a:t>
            </a:r>
            <a:r>
              <a:rPr sz="1100">
                <a:solidFill>
                  <a:srgbClr val="FFFFFF"/>
                </a:solidFill>
              </a:rPr>
              <a:t>Sarath Babu Rayaprolu (Founder &amp; Lead System Architect)</a:t>
            </a:r>
          </a:p>
          <a:p>
            <a:r>
              <a:rPr b="1" sz="1100">
                <a:solidFill>
                  <a:srgbClr val="EA580C"/>
                </a:solidFill>
              </a:rPr>
              <a:t>Production Web Platform:  </a:t>
            </a:r>
            <a:r>
              <a:rPr sz="1100">
                <a:solidFill>
                  <a:srgbClr val="FFFFFF"/>
                </a:solidFill>
              </a:rPr>
              <a:t>https://kisan.digikavach.net</a:t>
            </a:r>
          </a:p>
          <a:p>
            <a:r>
              <a:rPr b="1" sz="1100">
                <a:solidFill>
                  <a:srgbClr val="EA580C"/>
                </a:solidFill>
              </a:rPr>
              <a:t>Live Demonstration:       </a:t>
            </a:r>
            <a:r>
              <a:rPr sz="1100">
                <a:solidFill>
                  <a:srgbClr val="FFFFFF"/>
                </a:solidFill>
              </a:rPr>
              <a:t>Maker-Checker Loan Underwriting &amp; District Command Center</a:t>
            </a:r>
          </a:p>
          <a:p>
            <a:r>
              <a:rPr b="1" sz="1100">
                <a:solidFill>
                  <a:srgbClr val="EA580C"/>
                </a:solidFill>
              </a:rPr>
              <a:t>Mobile APK Build:         </a:t>
            </a:r>
            <a:r>
              <a:rPr sz="1100">
                <a:solidFill>
                  <a:srgbClr val="FFFFFF"/>
                </a:solidFill>
              </a:rPr>
              <a:t>Native Android Build Ready for Field Demonstration</a:t>
            </a:r>
          </a:p>
          <a:p>
            <a:r>
              <a:rPr b="1" sz="1100">
                <a:solidFill>
                  <a:srgbClr val="EA580C"/>
                </a:solidFill>
              </a:rPr>
              <a:t>Headquarters / Ops:       </a:t>
            </a:r>
            <a:r>
              <a:rPr sz="1100">
                <a:solidFill>
                  <a:srgbClr val="FFFFFF"/>
                </a:solidFill>
              </a:rPr>
              <a:t>Bengaluru, Karnataka  |  Contact: sarath@digikavach.net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